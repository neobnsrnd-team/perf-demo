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71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1" r:id="rId10"/>
    <p:sldId id="280" r:id="rId11"/>
    <p:sldId id="28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25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114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4" y="1069848"/>
            <a:ext cx="7141464" cy="2999232"/>
          </a:xfrm>
          <a:prstGeom prst="rect">
            <a:avLst/>
          </a:prstGeom>
          <a:solidFill>
            <a:srgbClr val="0A1929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002536" y="1371600"/>
            <a:ext cx="5998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성능테스트 실습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02536" y="228600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JMeter + Scouter를 활용한 성능테스트 실습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535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B3E9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428625" y="302400"/>
            <a:ext cx="8229600" cy="36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01. </a:t>
            </a:r>
            <a:r>
              <a:rPr lang="en-US" sz="1600" b="1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성능</a:t>
            </a:r>
            <a:r>
              <a:rPr lang="en-US" sz="16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테스트</a:t>
            </a:r>
            <a:r>
              <a:rPr lang="en-US" sz="16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목적과 유형</a:t>
            </a:r>
            <a:endParaRPr lang="en-US" sz="16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28625" y="1584960"/>
            <a:ext cx="8286750" cy="1146810"/>
          </a:xfrm>
          <a:prstGeom prst="rect">
            <a:avLst/>
          </a:prstGeom>
          <a:solidFill>
            <a:srgbClr val="1A2B3C">
              <a:alpha val="80000"/>
            </a:srgbClr>
          </a:solidFill>
          <a:ln w="9144">
            <a:solidFill>
              <a:srgbClr val="00B4C6"/>
            </a:solidFill>
            <a:prstDash val="solid"/>
          </a:ln>
        </p:spPr>
        <p:txBody>
          <a:bodyPr lIns="200000" tIns="140000" rIns="100000" bIns="7200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기능 테스트 :  </a:t>
            </a:r>
            <a:r>
              <a:rPr lang="en-US" sz="105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“</a:t>
            </a:r>
            <a:r>
              <a:rPr lang="en-US" sz="105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기능이</a:t>
            </a:r>
            <a:r>
              <a:rPr lang="en-US" sz="105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정상 작동 동작하는가?”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9F1C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성능 테스트 :  </a:t>
            </a:r>
            <a:r>
              <a:rPr lang="en-US" sz="105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“</a:t>
            </a:r>
            <a:r>
              <a:rPr lang="en-US" sz="105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N명이</a:t>
            </a:r>
            <a:r>
              <a:rPr lang="en-US" sz="105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동시에 써도 감당되는가? 최대 </a:t>
            </a:r>
            <a:r>
              <a:rPr lang="en-US" sz="105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얼마까지</a:t>
            </a:r>
            <a:r>
              <a:rPr lang="en-US" sz="105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처리 </a:t>
            </a:r>
            <a:r>
              <a:rPr lang="en-US" sz="105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가능한가</a:t>
            </a:r>
            <a:r>
              <a:rPr lang="en-US" sz="105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?"</a:t>
            </a:r>
          </a:p>
          <a:p>
            <a:pPr marL="0" indent="0" algn="ctr">
              <a:lnSpc>
                <a:spcPts val="1200"/>
              </a:lnSpc>
              <a:spcBef>
                <a:spcPts val="400"/>
              </a:spcBef>
              <a:buNone/>
            </a:pPr>
            <a:endParaRPr lang="en-US" sz="950" dirty="0">
              <a:solidFill>
                <a:srgbClr val="00B4C6"/>
              </a:solidFill>
              <a:latin typeface="하나2.0 CM" panose="020B0603000000000000" pitchFamily="50" charset="-127"/>
              <a:ea typeface="하나2.0 CM" panose="020B0603000000000000" pitchFamily="50" charset="-127"/>
              <a:cs typeface="하나2.0 CM" pitchFamily="34" charset="-120"/>
            </a:endParaRPr>
          </a:p>
          <a:p>
            <a:pPr marL="0" indent="0" algn="ctr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1400" dirty="0" err="1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성능테스트</a:t>
            </a:r>
            <a:r>
              <a:rPr lang="en-US" sz="14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= </a:t>
            </a:r>
            <a:r>
              <a:rPr lang="en-US" sz="1400" dirty="0" err="1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운영</a:t>
            </a:r>
            <a:r>
              <a:rPr lang="en-US" sz="14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</a:t>
            </a:r>
            <a:r>
              <a:rPr lang="ko-KR" altLang="en-US" sz="14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투입</a:t>
            </a:r>
            <a:r>
              <a:rPr lang="en-US" sz="14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전 </a:t>
            </a:r>
            <a:r>
              <a:rPr lang="ko-KR" altLang="en-US" sz="14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어플리케이션 </a:t>
            </a:r>
            <a:r>
              <a:rPr lang="en-US" sz="1400" dirty="0" err="1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시스템</a:t>
            </a:r>
            <a:r>
              <a:rPr lang="en-US" sz="14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</a:t>
            </a:r>
            <a:r>
              <a:rPr lang="ko-KR" altLang="en-US" sz="14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성능</a:t>
            </a:r>
            <a:r>
              <a:rPr lang="en-US" sz="14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</a:t>
            </a:r>
            <a:r>
              <a:rPr lang="en-US" sz="1400" dirty="0" err="1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적합성</a:t>
            </a:r>
            <a:r>
              <a:rPr lang="en-US" sz="14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</a:t>
            </a:r>
            <a:r>
              <a:rPr lang="en-US" sz="1400" dirty="0" err="1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검증</a:t>
            </a:r>
            <a:endParaRPr lang="en-US" sz="1400" dirty="0">
              <a:solidFill>
                <a:srgbClr val="00B4C6"/>
              </a:solidFill>
              <a:latin typeface="하나2.0 CM" panose="020B0603000000000000" pitchFamily="50" charset="-127"/>
              <a:ea typeface="하나2.0 CM" panose="020B0603000000000000" pitchFamily="50" charset="-127"/>
              <a:cs typeface="하나2.0 CM" pitchFamily="34" charset="-120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213F25D9-EED1-4461-A6E7-186A46E6A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03179"/>
              </p:ext>
            </p:extLst>
          </p:nvPr>
        </p:nvGraphicFramePr>
        <p:xfrm>
          <a:off x="431800" y="3027680"/>
          <a:ext cx="8280400" cy="16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>
                  <a:extLst>
                    <a:ext uri="{9D8B030D-6E8A-4147-A177-3AD203B41FA5}">
                      <a16:colId xmlns:a16="http://schemas.microsoft.com/office/drawing/2014/main" val="186833537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1226968147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999050040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175258902"/>
                    </a:ext>
                  </a:extLst>
                </a:gridCol>
              </a:tblGrid>
              <a:tr h="37122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F1E2E"/>
                          </a:solidFill>
                          <a:latin typeface="하나2.0 CM"/>
                          <a:ea typeface="하나2.0 CM"/>
                        </a:rPr>
                        <a:t>유형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B4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F1E2E"/>
                          </a:solidFill>
                          <a:latin typeface="하나2.0 CM"/>
                          <a:ea typeface="하나2.0 CM"/>
                        </a:rPr>
                        <a:t>목적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B4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F1E2E"/>
                          </a:solidFill>
                          <a:latin typeface="하나2.0 CM"/>
                          <a:ea typeface="하나2.0 CM"/>
                        </a:rPr>
                        <a:t>방법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B4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F1E2E"/>
                          </a:solidFill>
                          <a:latin typeface="하나2.0 CM"/>
                          <a:ea typeface="하나2.0 CM"/>
                        </a:rPr>
                        <a:t>판정 기준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B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903226"/>
                  </a:ext>
                </a:extLst>
              </a:tr>
              <a:tr h="41135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1" dirty="0" err="1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Peak</a:t>
                      </a:r>
                      <a:endParaRPr lang="ko-KR" altLang="en-US" sz="900" b="1" dirty="0">
                        <a:solidFill>
                          <a:srgbClr val="FFFFFF"/>
                        </a:solidFill>
                        <a:latin typeface="하나2.0 CM"/>
                        <a:ea typeface="하나2.0 CM"/>
                      </a:endParaRP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목표 TPS 달성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as-is </a:t>
                      </a:r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트래픽 분석 또는 </a:t>
                      </a:r>
                      <a:r>
                        <a:rPr lang="en-US" altLang="ko-KR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TPS</a:t>
                      </a:r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설계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목표 TPS 달성, CPU 70% 이하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974964"/>
                  </a:ext>
                </a:extLst>
              </a:tr>
              <a:tr h="41135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1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Stress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시스템 한계점 확인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부하를 단계적으로 증가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CPU 90% 도달 시점 TPS 기록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316716"/>
                  </a:ext>
                </a:extLst>
              </a:tr>
              <a:tr h="41135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1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Endurance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장시간 안정성 확인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dirty="0" err="1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Peak보다</a:t>
                      </a:r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 낮은 부하로 장시간 수행</a:t>
                      </a:r>
                      <a:r>
                        <a:rPr lang="en-US" altLang="ko-KR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(4</a:t>
                      </a:r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시간</a:t>
                      </a:r>
                      <a:r>
                        <a:rPr lang="en-US" altLang="ko-KR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~8</a:t>
                      </a:r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시간</a:t>
                      </a:r>
                      <a:r>
                        <a:rPr lang="en-US" altLang="ko-KR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)</a:t>
                      </a:r>
                      <a:endParaRPr lang="ko-KR" altLang="en-US" sz="950" dirty="0">
                        <a:solidFill>
                          <a:srgbClr val="FFFFFF"/>
                        </a:solidFill>
                        <a:latin typeface="하나2.0 CM"/>
                        <a:ea typeface="하나2.0 CM"/>
                      </a:endParaRP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메모리 누수 없음, 응답 일정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3168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C904BA-5F3A-7C78-11DF-1FCA212B3024}"/>
              </a:ext>
            </a:extLst>
          </p:cNvPr>
          <p:cNvSpPr txBox="1"/>
          <p:nvPr/>
        </p:nvSpPr>
        <p:spPr>
          <a:xfrm>
            <a:off x="428625" y="960120"/>
            <a:ext cx="8286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기능 테스트는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＂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기능이 정상작동 되는가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＂,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성능 테스트는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＂N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명이 동시에 사용해도 정상 작동되며 어느 정도 성능을 보이는가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?＂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160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9144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29768" y="301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02. </a:t>
            </a:r>
            <a:r>
              <a:rPr lang="ko-KR" altLang="en-US" sz="16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중요</a:t>
            </a:r>
            <a:r>
              <a:rPr lang="en-US" sz="16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 지표 + TPS 계산</a:t>
            </a:r>
            <a:endParaRPr lang="en-US" sz="16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261371"/>
              </p:ext>
            </p:extLst>
          </p:nvPr>
        </p:nvGraphicFramePr>
        <p:xfrm>
          <a:off x="429768" y="1382268"/>
          <a:ext cx="4290059" cy="2273808"/>
        </p:xfrm>
        <a:graphic>
          <a:graphicData uri="http://schemas.openxmlformats.org/drawingml/2006/table">
            <a:tbl>
              <a:tblPr/>
              <a:tblGrid>
                <a:gridCol w="979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1929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지표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1929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의미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1929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기준 예시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TPS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초당 처리 건수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목표 TPS 달성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응답시간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요청~응답까지 (ms)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3초 이내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에러율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전체 중 에러 비율 (%)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0.1% 미만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CPU 사용률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서버 CPU (%)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Peak 70%, Stress 90%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b="1" dirty="0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HEAP </a:t>
                      </a:r>
                      <a:r>
                        <a:rPr lang="ko-KR" altLang="en-US" sz="850" b="1" dirty="0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메모리 사용률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charset="0"/>
                        </a:rPr>
                        <a:t>JAVA</a:t>
                      </a:r>
                      <a:r>
                        <a:rPr lang="ko-KR" altLang="en-US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charset="0"/>
                        </a:rPr>
                        <a:t> </a:t>
                      </a:r>
                      <a:r>
                        <a:rPr lang="en-US" altLang="ko-KR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charset="0"/>
                        </a:rPr>
                        <a:t>HEAP</a:t>
                      </a:r>
                      <a:r>
                        <a:rPr lang="ko-KR" altLang="en-US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charset="0"/>
                        </a:rPr>
                        <a:t> 메모리 사용률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장시간 테스트 시 누수 없는지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22077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b="1" dirty="0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GC</a:t>
                      </a:r>
                      <a:r>
                        <a:rPr lang="ko-KR" altLang="en-US" sz="850" b="1" dirty="0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카운트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charset="0"/>
                        </a:rPr>
                        <a:t>HEAP</a:t>
                      </a:r>
                      <a:r>
                        <a:rPr lang="ko-KR" altLang="en-US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charset="0"/>
                        </a:rPr>
                        <a:t> 메모리가 높아 졌을 때 작동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장시간 테스트 시 </a:t>
                      </a:r>
                      <a:r>
                        <a:rPr lang="ko-KR" altLang="en-US" sz="8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하나2.0 CM" charset="0"/>
                        </a:rPr>
                        <a:t>작동하여 메모리를 낮춰 줬는지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2522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84420" y="1382268"/>
            <a:ext cx="3829812" cy="3052572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074920" y="14737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TPS 계산 공식</a:t>
            </a:r>
            <a:endParaRPr lang="en-US" sz="12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074920" y="1866900"/>
            <a:ext cx="3177540" cy="411480"/>
          </a:xfrm>
          <a:prstGeom prst="rect">
            <a:avLst/>
          </a:prstGeom>
          <a:solidFill>
            <a:srgbClr val="1627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166360" y="18669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Consolas" pitchFamily="34" charset="-120"/>
              </a:rPr>
              <a:t>설계TPS</a:t>
            </a:r>
            <a:r>
              <a:rPr lang="en-US" sz="900" dirty="0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Consolas" pitchFamily="34" charset="-120"/>
              </a:rPr>
              <a:t> = 스레드 수 / (ThinkTime + </a:t>
            </a:r>
            <a:r>
              <a:rPr lang="ko-KR" altLang="en-US" sz="900" dirty="0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Consolas" pitchFamily="34" charset="-120"/>
              </a:rPr>
              <a:t>예상</a:t>
            </a:r>
            <a:r>
              <a:rPr lang="en-US" sz="900" dirty="0" err="1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Consolas" pitchFamily="34" charset="-120"/>
              </a:rPr>
              <a:t>응답시간</a:t>
            </a:r>
            <a:r>
              <a:rPr lang="en-US" sz="900" dirty="0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Consolas" pitchFamily="34" charset="-120"/>
              </a:rPr>
              <a:t>)</a:t>
            </a:r>
            <a:endParaRPr lang="en-US" sz="9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74920" y="2369820"/>
            <a:ext cx="3177540" cy="411480"/>
          </a:xfrm>
          <a:prstGeom prst="rect">
            <a:avLst/>
          </a:prstGeom>
          <a:solidFill>
            <a:srgbClr val="1627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166360" y="23698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Consolas" pitchFamily="34" charset="-120"/>
              </a:rPr>
              <a:t>실측TPS</a:t>
            </a:r>
            <a:r>
              <a:rPr lang="en-US" sz="900" dirty="0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Consolas" pitchFamily="34" charset="-120"/>
              </a:rPr>
              <a:t> = 처리 건 수 / 수행시간(초)</a:t>
            </a:r>
            <a:endParaRPr lang="en-US" sz="9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74920" y="29184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예시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74920" y="31196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스레드 50, ThinkTime 1초, 응답 0.5초</a:t>
            </a:r>
            <a:endParaRPr lang="en-US" sz="9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→ TPS = 50 / (1 + 0.5) = 33 TPS</a:t>
            </a:r>
            <a:endParaRPr lang="en-US" sz="9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74920" y="3604260"/>
            <a:ext cx="3177540" cy="731520"/>
          </a:xfrm>
          <a:prstGeom prst="rect">
            <a:avLst/>
          </a:prstGeom>
          <a:solidFill>
            <a:srgbClr val="1627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166360" y="36499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이론값 vs 실측값</a:t>
            </a:r>
            <a:endParaRPr lang="en-US" sz="9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166360" y="38785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근접 → 서버 여유 있음</a:t>
            </a:r>
            <a:endParaRPr lang="en-US" sz="9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크게 낮음 → 서버 병목 (DB/GC 등)</a:t>
            </a:r>
            <a:endParaRPr lang="en-US" sz="9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9768" y="4533900"/>
            <a:ext cx="8284464" cy="36576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29768" y="4533900"/>
            <a:ext cx="8284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6가지 지표를 JMeter(외부)와 Scouter(내부)로 측정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BB1E3A-0CD8-E8E7-DE23-F0BB1F05F03B}"/>
              </a:ext>
            </a:extLst>
          </p:cNvPr>
          <p:cNvSpPr txBox="1"/>
          <p:nvPr/>
        </p:nvSpPr>
        <p:spPr>
          <a:xfrm>
            <a:off x="428625" y="960120"/>
            <a:ext cx="828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성능 테스트 시 중요 지표와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TPS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설계 시 계산법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, TPS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실측 계산법의 설명 </a:t>
            </a:r>
          </a:p>
        </p:txBody>
      </p:sp>
    </p:spTree>
    <p:extLst>
      <p:ext uri="{BB962C8B-B14F-4D97-AF65-F5344CB8AC3E}">
        <p14:creationId xmlns:p14="http://schemas.microsoft.com/office/powerpoint/2010/main" val="244415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9144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29768" y="301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03. 성능테스트 흐름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9768" y="1478280"/>
            <a:ext cx="1911096" cy="1426464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59715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4404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중요거래 선정 및 </a:t>
            </a:r>
            <a:r>
              <a:rPr lang="en-US" sz="1200" b="1" dirty="0" err="1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시나리오</a:t>
            </a:r>
            <a:r>
              <a:rPr lang="en-US" sz="12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작성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0980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JMeter JMX 파일 생성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(GUI 모드)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478280"/>
            <a:ext cx="1911096" cy="1426464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51176" y="159715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51176" y="184404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단건 확인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51176" y="220980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1스레드로 </a:t>
            </a:r>
            <a:r>
              <a:rPr lang="ko-KR" alt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스크립트 검증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34840" y="1478280"/>
            <a:ext cx="1911096" cy="1426464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53712" y="159715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53712" y="184404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부하 발생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220980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JMeter CLI 모드로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N스레드 부하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37376" y="1478280"/>
            <a:ext cx="1911096" cy="1426464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56248" y="1597152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56248" y="184404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모니터링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56248" y="220980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Scouter XLog/카운터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실시간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99616" y="3142488"/>
            <a:ext cx="1911096" cy="1426464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618488" y="326136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18488" y="350824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결과 분석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18488" y="387400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JMeter 리포트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02152" y="3142488"/>
            <a:ext cx="1911096" cy="1426464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21024" y="326136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21024" y="350824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병목 개선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21024" y="387400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느린 SQL, 커넥션 풀,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코드 최적화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04688" y="3142488"/>
            <a:ext cx="1911096" cy="1426464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23560" y="3261360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23560" y="350824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재테스트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387400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동일 조건으로 재측정,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2E8F0"/>
                </a:solidFill>
                <a:ea typeface="하나2.0 CM" pitchFamily="34" charset="-122"/>
                <a:cs typeface="하나2.0 CM" pitchFamily="34" charset="-120"/>
              </a:rPr>
              <a:t>효과 확인</a:t>
            </a:r>
            <a:endParaRPr 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688823-1428-4023-598C-68CF156D0989}"/>
              </a:ext>
            </a:extLst>
          </p:cNvPr>
          <p:cNvSpPr txBox="1"/>
          <p:nvPr/>
        </p:nvSpPr>
        <p:spPr>
          <a:xfrm>
            <a:off x="428625" y="960120"/>
            <a:ext cx="828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성능 테스트의 흐름과 각 단계에서 수행해야 할 일을 명시함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.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8757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9144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29768" y="301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04. 성능 테스트 도구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" y="1371600"/>
            <a:ext cx="4005072" cy="365760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9768" y="1371600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A1929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Jmeter</a:t>
            </a:r>
            <a:r>
              <a:rPr lang="en-US" sz="1000" b="1" dirty="0">
                <a:solidFill>
                  <a:srgbClr val="0A1929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(Apache </a:t>
            </a:r>
            <a:r>
              <a:rPr lang="ko-KR" altLang="en-US" sz="1000" b="1" dirty="0">
                <a:solidFill>
                  <a:srgbClr val="0A1929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오픈소스</a:t>
            </a:r>
            <a:r>
              <a:rPr lang="en-US" altLang="ko-KR" sz="1000" b="1" dirty="0">
                <a:solidFill>
                  <a:srgbClr val="0A1929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0016" y="1371600"/>
            <a:ext cx="4005072" cy="365760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00016" y="1371600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929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Scouter(</a:t>
            </a:r>
            <a:r>
              <a:rPr lang="ko-KR" altLang="en-US" sz="1000" b="1" dirty="0">
                <a:solidFill>
                  <a:srgbClr val="0A1929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오픈소스</a:t>
            </a:r>
            <a:r>
              <a:rPr lang="en-US" altLang="ko-KR" sz="1000" b="1" dirty="0">
                <a:solidFill>
                  <a:srgbClr val="0A1929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1783080"/>
            <a:ext cx="4005072" cy="86868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18470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altLang="ko-KR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</a:rPr>
              <a:t>N</a:t>
            </a:r>
            <a:r>
              <a:rPr lang="ko-KR" alt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</a:rPr>
              <a:t>명 동시 접속을 </a:t>
            </a:r>
            <a:r>
              <a:rPr lang="ko-KR" altLang="en-US" sz="90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</a:rPr>
              <a:t>시뮬레이션하여</a:t>
            </a:r>
            <a:r>
              <a:rPr lang="ko-KR" alt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</a:rPr>
              <a:t> </a:t>
            </a:r>
            <a:r>
              <a:rPr lang="en-US" altLang="ko-KR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</a:rPr>
              <a:t>TPS, </a:t>
            </a:r>
            <a:r>
              <a:rPr lang="ko-KR" alt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</a:rPr>
              <a:t>응답시간</a:t>
            </a:r>
            <a:r>
              <a:rPr lang="en-US" altLang="ko-KR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</a:rPr>
              <a:t>, </a:t>
            </a:r>
            <a:r>
              <a:rPr lang="ko-KR" altLang="en-US" sz="90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</a:rPr>
              <a:t>에러율</a:t>
            </a:r>
            <a:r>
              <a:rPr lang="ko-KR" alt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</a:rPr>
              <a:t> 측정</a:t>
            </a:r>
            <a:endParaRPr lang="en-US" altLang="ko-KR" sz="900" dirty="0">
              <a:solidFill>
                <a:srgbClr val="E2E8F0"/>
              </a:solidFill>
              <a:latin typeface="하나2.0 CM" pitchFamily="34" charset="0"/>
              <a:ea typeface="하나2.0 CM" pitchFamily="34" charset="-122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HTML 리포트 생성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0016" y="1783080"/>
            <a:ext cx="4005072" cy="86868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18888" y="18470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XLog (트랜잭션별 응답시간)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Profile (메서드/SQL 실행시간)</a:t>
            </a:r>
            <a:endParaRPr lang="en-US" sz="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실시간 카운터 (TPS, CPU, </a:t>
            </a:r>
            <a:r>
              <a:rPr lang="en-US" sz="90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HeapMemory</a:t>
            </a:r>
            <a:r>
              <a:rPr 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)</a:t>
            </a:r>
            <a:endParaRPr lang="en-US" sz="9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71E8BEE-38FA-BB4C-B56B-08A08769197A}"/>
              </a:ext>
            </a:extLst>
          </p:cNvPr>
          <p:cNvSpPr/>
          <p:nvPr/>
        </p:nvSpPr>
        <p:spPr>
          <a:xfrm>
            <a:off x="429768" y="2839212"/>
            <a:ext cx="8284464" cy="1869948"/>
          </a:xfrm>
          <a:prstGeom prst="rect">
            <a:avLst/>
          </a:prstGeom>
          <a:solidFill>
            <a:srgbClr val="1A2B3C"/>
          </a:solidFill>
          <a:ln w="9144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9D6E133B-4847-4C8B-86B1-A3DFD45C241A}"/>
              </a:ext>
            </a:extLst>
          </p:cNvPr>
          <p:cNvSpPr/>
          <p:nvPr/>
        </p:nvSpPr>
        <p:spPr>
          <a:xfrm>
            <a:off x="548640" y="28849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사전</a:t>
            </a:r>
            <a:r>
              <a:rPr lang="en-US" sz="1000" b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ko-KR" altLang="en-US" sz="1000" b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설치 프로그램</a:t>
            </a:r>
            <a:endParaRPr lang="en-US" sz="10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6950B909-C3C5-F702-FD46-6E57DB3C1BF8}"/>
              </a:ext>
            </a:extLst>
          </p:cNvPr>
          <p:cNvSpPr/>
          <p:nvPr/>
        </p:nvSpPr>
        <p:spPr>
          <a:xfrm>
            <a:off x="548640" y="3136392"/>
            <a:ext cx="7955280" cy="1421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ea typeface="하나2.0 CM" pitchFamily="34" charset="-122"/>
                <a:cs typeface="하나2.0 CM" pitchFamily="34" charset="-120"/>
              </a:rPr>
              <a:t>Java 8 , Java 17 </a:t>
            </a:r>
            <a:r>
              <a:rPr lang="en-US" sz="900" dirty="0" err="1">
                <a:solidFill>
                  <a:srgbClr val="FFFFFF"/>
                </a:solidFill>
                <a:ea typeface="하나2.0 CM" pitchFamily="34" charset="-122"/>
                <a:cs typeface="하나2.0 CM" pitchFamily="34" charset="-120"/>
              </a:rPr>
              <a:t>설치</a:t>
            </a:r>
            <a:endParaRPr lang="en-US" sz="900" dirty="0">
              <a:solidFill>
                <a:srgbClr val="FFFFFF"/>
              </a:solidFill>
              <a:ea typeface="하나2.0 CM" pitchFamily="34" charset="-122"/>
              <a:cs typeface="하나2.0 CM" pitchFamily="34" charset="-120"/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altLang="ko-KR" sz="900" dirty="0">
                <a:solidFill>
                  <a:srgbClr val="FFFFFF"/>
                </a:solidFill>
                <a:ea typeface="하나2.0 CM" pitchFamily="34" charset="-122"/>
              </a:rPr>
              <a:t>Perf-demo</a:t>
            </a:r>
            <a:r>
              <a:rPr lang="ko-KR" altLang="en-US" sz="900" dirty="0">
                <a:solidFill>
                  <a:srgbClr val="FFFFFF"/>
                </a:solidFill>
                <a:ea typeface="하나2.0 CM" pitchFamily="34" charset="-122"/>
              </a:rPr>
              <a:t> </a:t>
            </a:r>
            <a:r>
              <a:rPr lang="en-US" altLang="ko-KR" sz="900" dirty="0">
                <a:solidFill>
                  <a:srgbClr val="FFFFFF"/>
                </a:solidFill>
                <a:ea typeface="하나2.0 CM" pitchFamily="34" charset="-122"/>
              </a:rPr>
              <a:t>git clone </a:t>
            </a:r>
            <a:r>
              <a:rPr lang="en-US" altLang="ko-KR" sz="900" dirty="0">
                <a:solidFill>
                  <a:srgbClr val="00B4C6"/>
                </a:solidFill>
                <a:ea typeface="Consolas" pitchFamily="34" charset="-122"/>
                <a:cs typeface="Consolas" pitchFamily="34" charset="-120"/>
              </a:rPr>
              <a:t>: https://github.com/neobnsrnd-team/perf-demo.git</a:t>
            </a:r>
            <a:endParaRPr lang="en-US" sz="9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ea typeface="하나2.0 CM" pitchFamily="34" charset="-122"/>
                <a:cs typeface="하나2.0 CM" pitchFamily="34" charset="-120"/>
              </a:rPr>
              <a:t>Scouter 다운로드: </a:t>
            </a:r>
            <a:r>
              <a:rPr lang="en-US" sz="900" dirty="0">
                <a:solidFill>
                  <a:srgbClr val="00B4C6"/>
                </a:solidFill>
                <a:ea typeface="Consolas" pitchFamily="34" charset="-122"/>
                <a:cs typeface="Consolas" pitchFamily="34" charset="-120"/>
              </a:rPr>
              <a:t>github.com/scouter-project/scouter/releases/tag/v2.21.2  </a:t>
            </a:r>
            <a:endParaRPr lang="en-US" sz="9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900" dirty="0" err="1">
                <a:solidFill>
                  <a:srgbClr val="FFFFFF"/>
                </a:solidFill>
                <a:ea typeface="하나2.0 CM" pitchFamily="34" charset="-122"/>
                <a:cs typeface="하나2.0 CM" pitchFamily="34" charset="-120"/>
              </a:rPr>
              <a:t>Jmeter</a:t>
            </a:r>
            <a:r>
              <a:rPr lang="en-US" sz="900" dirty="0">
                <a:solidFill>
                  <a:srgbClr val="FFFFFF"/>
                </a:solidFill>
                <a:ea typeface="하나2.0 CM" pitchFamily="34" charset="-122"/>
                <a:cs typeface="하나2.0 CM" pitchFamily="34" charset="-120"/>
              </a:rPr>
              <a:t> 다운로드: </a:t>
            </a:r>
            <a:r>
              <a:rPr lang="en-US" sz="900" dirty="0">
                <a:solidFill>
                  <a:srgbClr val="00B4C6"/>
                </a:solidFill>
              </a:rPr>
              <a:t>https://jmeter.apache.org/download_jmeter.cgi</a:t>
            </a: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ea typeface="하나2.0 CM" pitchFamily="34" charset="-122"/>
                <a:cs typeface="하나2.0 CM" pitchFamily="34" charset="-120"/>
              </a:rPr>
              <a:t>bat 파일 내 </a:t>
            </a:r>
            <a:r>
              <a:rPr lang="en-US" sz="900" dirty="0">
                <a:solidFill>
                  <a:srgbClr val="00B4C6"/>
                </a:solidFill>
                <a:ea typeface="Consolas" pitchFamily="34" charset="-122"/>
                <a:cs typeface="Consolas" pitchFamily="34" charset="-120"/>
              </a:rPr>
              <a:t>JAVA_HOME</a:t>
            </a:r>
            <a:r>
              <a:rPr lang="en-US" sz="900" dirty="0">
                <a:solidFill>
                  <a:srgbClr val="FFFFFF"/>
                </a:solidFill>
                <a:ea typeface="하나2.0 CM" pitchFamily="34" charset="-122"/>
                <a:cs typeface="하나2.0 CM" pitchFamily="34" charset="-120"/>
              </a:rPr>
              <a:t>, </a:t>
            </a:r>
            <a:r>
              <a:rPr lang="en-US" sz="900" dirty="0">
                <a:solidFill>
                  <a:srgbClr val="00B4C6"/>
                </a:solidFill>
                <a:ea typeface="Consolas" pitchFamily="34" charset="-122"/>
                <a:cs typeface="Consolas" pitchFamily="34" charset="-120"/>
              </a:rPr>
              <a:t>SCOUTER_HOME</a:t>
            </a:r>
            <a:r>
              <a:rPr lang="en-US" sz="900" dirty="0">
                <a:solidFill>
                  <a:srgbClr val="FFFFFF"/>
                </a:solidFill>
                <a:ea typeface="하나2.0 CM" pitchFamily="34" charset="-122"/>
                <a:cs typeface="하나2.0 CM" pitchFamily="34" charset="-120"/>
              </a:rPr>
              <a:t> 경로를 본인 PC에 맞게 수정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56C129-D02E-AF6E-E36A-17BECC6117CC}"/>
              </a:ext>
            </a:extLst>
          </p:cNvPr>
          <p:cNvSpPr txBox="1"/>
          <p:nvPr/>
        </p:nvSpPr>
        <p:spPr>
          <a:xfrm>
            <a:off x="428625" y="960120"/>
            <a:ext cx="828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JMeter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결과만으로는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"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느리다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"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만 알 수 있고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, Scouter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까지 써야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"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어디가 </a:t>
            </a:r>
            <a:r>
              <a:rPr lang="ko-KR" altLang="en-US" sz="14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느린지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"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를 찾을 수 있음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.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324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9144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29768" y="301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05. Scouter 설정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9768" y="1569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실습용 conf는 perf-demo에 포함    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71216" y="1551432"/>
            <a:ext cx="2103120" cy="246888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871216" y="155143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9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conf\scouter-demo1.conf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981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핵심 설정 3가지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026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(프로젝트마다 수정)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9768" y="2301240"/>
            <a:ext cx="4005072" cy="1051560"/>
          </a:xfrm>
          <a:prstGeom prst="rect">
            <a:avLst/>
          </a:prstGeom>
          <a:solidFill>
            <a:srgbClr val="1627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3926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net_collector_ip=127.0.0.1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obj_name=perf-demo-1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hook_method_patterns=com.example.perfdemo.*.*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3489960"/>
            <a:ext cx="4005072" cy="1051560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35814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00B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net_collector_ip</a:t>
            </a:r>
            <a:r>
              <a:rPr 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— Scouter Server 주소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00B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obj_name</a:t>
            </a:r>
            <a:r>
              <a:rPr 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— 모니터링 인스턴스 이름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00B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hook_method_patterns</a:t>
            </a:r>
            <a:r>
              <a:rPr 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— 프로파일링 대상 패키지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18304" y="1981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주요 설정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0" y="2026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(실습 conf에 이미 적용됨)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18304" y="2301240"/>
            <a:ext cx="3995928" cy="2240280"/>
          </a:xfrm>
          <a:prstGeom prst="rect">
            <a:avLst/>
          </a:prstGeom>
          <a:solidFill>
            <a:srgbClr val="1627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239268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profile_method_enabled=true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profile_sql_param_enabled=true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profile_http_header_enabled=true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profile_http_parameter_enabled=true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hook_spring_rest_enabled=true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xlog_sampling_enabled=false</a:t>
            </a:r>
            <a:endParaRPr lang="en-US" sz="8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BA2E6D-3D78-757E-2556-3D27E0A57E78}"/>
              </a:ext>
            </a:extLst>
          </p:cNvPr>
          <p:cNvSpPr txBox="1"/>
          <p:nvPr/>
        </p:nvSpPr>
        <p:spPr>
          <a:xfrm>
            <a:off x="428625" y="960120"/>
            <a:ext cx="8286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SCOUTER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SERVER, WEBAPP, HOST, JAVA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각각 별도의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conf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파일을 가지고 있으며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java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는 인스턴스 수 만큼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conf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를 만들거나 </a:t>
            </a:r>
            <a:r>
              <a:rPr lang="en-US" altLang="ko-KR" sz="14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jvm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에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–</a:t>
            </a:r>
            <a:r>
              <a:rPr lang="en-US" altLang="ko-KR" sz="14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Dobj_name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=perfDemo1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옵션 추가하여 하나의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conf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를 공유할 수도 있음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.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03863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9144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29768" y="301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06. </a:t>
            </a:r>
            <a:r>
              <a:rPr lang="en-US" sz="1600" b="1" dirty="0" err="1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실습</a:t>
            </a:r>
            <a:r>
              <a:rPr lang="en-US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(1/3)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9768" y="1437132"/>
            <a:ext cx="8284464" cy="1069848"/>
          </a:xfrm>
          <a:prstGeom prst="rect">
            <a:avLst/>
          </a:prstGeom>
          <a:solidFill>
            <a:srgbClr val="1A2B3C"/>
          </a:solidFill>
          <a:ln w="9144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4828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사전 준비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38884"/>
            <a:ext cx="79552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Perf-demo Scouter-</a:t>
            </a:r>
            <a:r>
              <a:rPr lang="en-US" sz="10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extweb</a:t>
            </a:r>
            <a:r>
              <a:rPr 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  <a:r>
              <a:rPr lang="ko-KR" alt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에 포함된 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html(4</a:t>
            </a:r>
            <a:r>
              <a:rPr lang="ko-KR" alt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개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),</a:t>
            </a:r>
            <a:r>
              <a:rPr lang="en-US" altLang="ko-KR" sz="10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js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  <a:r>
              <a:rPr lang="ko-KR" alt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파일을 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Scouter</a:t>
            </a:r>
            <a:r>
              <a:rPr lang="ko-KR" altLang="en-US" sz="10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설치폴더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/webapp/</a:t>
            </a:r>
            <a:r>
              <a:rPr lang="en-US" altLang="ko-KR" sz="10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extweb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  <a:r>
              <a:rPr lang="ko-KR" alt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아래 복사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. </a:t>
            </a:r>
            <a:r>
              <a:rPr lang="en-US" altLang="ko-KR" sz="10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Js</a:t>
            </a:r>
            <a:r>
              <a:rPr lang="ko-KR" alt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파일은 덮어쓰기</a:t>
            </a:r>
            <a:endParaRPr lang="en-US" sz="10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Perf-demo .bat </a:t>
            </a:r>
            <a:r>
              <a:rPr lang="ko-KR" alt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파일들 열어서 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JAVA_HOME </a:t>
            </a:r>
            <a:r>
              <a:rPr lang="ko-KR" alt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및 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SCOUTER_HOME </a:t>
            </a:r>
            <a:r>
              <a:rPr lang="ko-KR" altLang="en-US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경로 수정</a:t>
            </a:r>
            <a:r>
              <a:rPr lang="en-US" altLang="ko-KR" sz="10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.</a:t>
            </a:r>
            <a:endParaRPr lang="en-US" sz="10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" y="2788920"/>
            <a:ext cx="5431536" cy="1965960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실행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① </a:t>
            </a:r>
            <a:r>
              <a:rPr lang="en-US" sz="9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Scouter + perf-demo 자동 기동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31927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start-all.bat</a:t>
            </a:r>
            <a:r>
              <a:rPr 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더블클릭 → SCOUTER 3</a:t>
            </a:r>
            <a:r>
              <a:rPr lang="ko-KR" alt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종 및 </a:t>
            </a:r>
            <a:r>
              <a:rPr 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perf-demo 3</a:t>
            </a:r>
            <a:r>
              <a:rPr lang="ko-KR" alt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개 </a:t>
            </a:r>
            <a:r>
              <a:rPr lang="en-US" sz="85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자동</a:t>
            </a:r>
            <a:r>
              <a:rPr 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실행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② </a:t>
            </a:r>
            <a:r>
              <a:rPr lang="en-US" sz="900" b="1" dirty="0" err="1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브라우저</a:t>
            </a:r>
            <a:r>
              <a:rPr lang="en-US" sz="9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접속</a:t>
            </a:r>
            <a:r>
              <a:rPr lang="en-US" sz="9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ko-KR" altLang="en-US" sz="9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후 </a:t>
            </a:r>
            <a:r>
              <a:rPr lang="en-US" altLang="ko-KR" sz="9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Swagger </a:t>
            </a:r>
            <a:r>
              <a:rPr lang="ko-KR" altLang="en-US" sz="9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거래 발생 후 </a:t>
            </a:r>
            <a:r>
              <a:rPr lang="en-US" altLang="ko-KR" sz="900" b="1" dirty="0" err="1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xlog</a:t>
            </a:r>
            <a:r>
              <a:rPr lang="en-US" altLang="ko-KR" sz="9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ko-KR" altLang="en-US" sz="9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확인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77647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Paper: </a:t>
            </a:r>
            <a:r>
              <a:rPr lang="en-US" sz="850" dirty="0">
                <a:solidFill>
                  <a:srgbClr val="00B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http://localhost:6180/extweb/scouter-xlog.html</a:t>
            </a:r>
            <a:r>
              <a:rPr 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or index.html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Swagger: </a:t>
            </a:r>
            <a:r>
              <a:rPr lang="en-US" sz="850" dirty="0">
                <a:solidFill>
                  <a:srgbClr val="00B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http://localhost:18081/swagger-ui.html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98464" y="2788920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포트 정보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920364"/>
              </p:ext>
            </p:extLst>
          </p:nvPr>
        </p:nvGraphicFramePr>
        <p:xfrm>
          <a:off x="5998464" y="3108960"/>
          <a:ext cx="2715768" cy="1645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1929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포트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A1929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서비스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Consolas" pitchFamily="34" charset="-120"/>
                        </a:rPr>
                        <a:t>6100</a:t>
                      </a:r>
                      <a:endParaRPr lang="en-US" sz="850" dirty="0">
                        <a:latin typeface="하나2.0 CM"/>
                        <a:ea typeface="하나2.0 CM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Scouter Server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Consolas" pitchFamily="34" charset="-120"/>
                        </a:rPr>
                        <a:t>6180</a:t>
                      </a:r>
                      <a:endParaRPr lang="en-US" sz="850" dirty="0">
                        <a:latin typeface="하나2.0 CM"/>
                        <a:ea typeface="하나2.0 CM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Paper 대시보드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Consolas" pitchFamily="34" charset="-120"/>
                        </a:rPr>
                        <a:t>18081</a:t>
                      </a:r>
                      <a:endParaRPr lang="en-US" sz="850" dirty="0">
                        <a:latin typeface="하나2.0 CM"/>
                        <a:ea typeface="하나2.0 CM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perf-demo-1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Consolas" pitchFamily="34" charset="-120"/>
                        </a:rPr>
                        <a:t>18082</a:t>
                      </a:r>
                      <a:endParaRPr lang="en-US" sz="850" dirty="0">
                        <a:latin typeface="하나2.0 CM"/>
                        <a:ea typeface="하나2.0 CM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perf-demo-2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  <a:cs typeface="Consolas" pitchFamily="34" charset="-120"/>
                        </a:rPr>
                        <a:t>18083</a:t>
                      </a:r>
                      <a:endParaRPr lang="en-US" sz="850" dirty="0">
                        <a:latin typeface="하나2.0 CM"/>
                        <a:ea typeface="하나2.0 CM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2E8F0"/>
                          </a:solidFill>
                          <a:latin typeface="하나2.0 CM"/>
                          <a:ea typeface="하나2.0 CM"/>
                          <a:cs typeface="하나2.0 CM" pitchFamily="34" charset="-120"/>
                        </a:rPr>
                        <a:t>perf-demo-3</a:t>
                      </a:r>
                      <a:endParaRPr lang="en-US" sz="850" dirty="0">
                        <a:latin typeface="하나2.0 CM"/>
                        <a:ea typeface="하나2.0 CM"/>
                        <a:cs typeface="하나2.0 CM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96354BD-E654-B6E5-3C50-AEED678AAB57}"/>
              </a:ext>
            </a:extLst>
          </p:cNvPr>
          <p:cNvSpPr txBox="1"/>
          <p:nvPr/>
        </p:nvSpPr>
        <p:spPr>
          <a:xfrm>
            <a:off x="428625" y="960120"/>
            <a:ext cx="828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스카우터와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perf-demo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를 기동하기 위한 사전 준비 및 </a:t>
            </a:r>
            <a:r>
              <a:rPr lang="ko-KR" altLang="en-US" sz="14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기동법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.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787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9144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29768" y="301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06. </a:t>
            </a:r>
            <a:r>
              <a:rPr lang="ko-KR" altLang="en-US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실습 </a:t>
            </a:r>
            <a:r>
              <a:rPr lang="en-US" altLang="ko-KR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(2/3)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9768" y="1348740"/>
            <a:ext cx="2624328" cy="1874520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44018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69621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Swagger UI 접속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924812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브라우저를</a:t>
            </a:r>
            <a:r>
              <a:rPr 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en-US" sz="100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통해</a:t>
            </a:r>
            <a:r>
              <a:rPr 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en-US" sz="100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xlog</a:t>
            </a:r>
            <a:r>
              <a:rPr 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ko-KR" alt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페이지</a:t>
            </a:r>
            <a:r>
              <a:rPr lang="en-US" altLang="ko-KR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,</a:t>
            </a:r>
            <a:r>
              <a:rPr 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API 테스트 페이지에 접속합니다.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5222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Consolas" pitchFamily="34" charset="-120"/>
              </a:rPr>
              <a:t>http://localhost:18081/swagger-ui/index.html</a:t>
            </a:r>
            <a:endParaRPr lang="en-US" sz="10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64408" y="1348740"/>
            <a:ext cx="2624328" cy="1874520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01568" y="144018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01568" y="169621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API 호출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1568" y="1924812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샘플 API를 'Try it out'으로 실행하여 대상 WAS에 트래픽을 발생시킵니다.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48" y="1348740"/>
            <a:ext cx="2624328" cy="1874520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36208" y="144018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36208" y="169621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Scouter Paper </a:t>
            </a:r>
            <a:r>
              <a:rPr lang="ko-KR" altLang="en-US" sz="11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또는 </a:t>
            </a:r>
            <a:r>
              <a:rPr lang="en-US" altLang="ko-KR" sz="1100" b="1" dirty="0" err="1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xlog</a:t>
            </a:r>
            <a:r>
              <a:rPr lang="en-US" altLang="ko-KR" sz="11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확인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924812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XLog 위젯에 트랜잭션 점이 실시간으로 표시되는 것을 확인합니다.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" y="3314700"/>
            <a:ext cx="8284464" cy="1645920"/>
          </a:xfrm>
          <a:prstGeom prst="rect">
            <a:avLst/>
          </a:prstGeom>
          <a:solidFill>
            <a:srgbClr val="1A2B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6072" y="34061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동작 확인 포인트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37719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XLog 차트에 점이 찍히면 Agent → Server → Paper 연동 정상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점을 클릭하면 해당 트랜잭션의 상세 프로파일(Profile) 확인 가능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TPS, Active Service, Response Time 위젯의 값도 함께 변화하는지 관찰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44BE44-C14A-DF8C-E60B-E73D237258B3}"/>
              </a:ext>
            </a:extLst>
          </p:cNvPr>
          <p:cNvSpPr txBox="1"/>
          <p:nvPr/>
        </p:nvSpPr>
        <p:spPr>
          <a:xfrm>
            <a:off x="428625" y="960120"/>
            <a:ext cx="8286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Swagger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에 접속하여 거래를 생성 해보고 </a:t>
            </a:r>
            <a:r>
              <a:rPr lang="en-US" altLang="ko-KR" sz="14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xlog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에 점이 생성되었는지 확인 함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.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5F525955-152D-39E2-99CD-458D0BB5D974}"/>
              </a:ext>
            </a:extLst>
          </p:cNvPr>
          <p:cNvSpPr/>
          <p:nvPr/>
        </p:nvSpPr>
        <p:spPr>
          <a:xfrm>
            <a:off x="563880" y="284226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4C6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Consolas" pitchFamily="34" charset="-120"/>
              </a:rPr>
              <a:t>http://localhost:6180/extweb/scouter-xlog.html</a:t>
            </a:r>
            <a:endParaRPr lang="en-US" sz="10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109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B3E9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428623" y="302400"/>
            <a:ext cx="8229600" cy="367200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06. </a:t>
            </a:r>
            <a:r>
              <a:rPr lang="ko-KR" altLang="en-US" sz="16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실습 </a:t>
            </a:r>
            <a:r>
              <a:rPr lang="en-US" altLang="ko-KR" sz="1600" b="1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  <a:cs typeface="하나2.0 CM" pitchFamily="34" charset="-120"/>
              </a:rPr>
              <a:t>(3/3)</a:t>
            </a:r>
            <a:endParaRPr lang="en-US" sz="1600" dirty="0">
              <a:latin typeface="하나2.0 CM" panose="020B0603000000000000" pitchFamily="50" charset="-127"/>
              <a:ea typeface="하나2.0 CM" panose="020B0603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28625" y="3704034"/>
            <a:ext cx="3504009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참고: </a:t>
            </a:r>
            <a:r>
              <a:rPr lang="ko-KR" altLang="en-US" sz="850" i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실제 테스트는</a:t>
            </a:r>
            <a:r>
              <a:rPr lang="en-US" sz="850" i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CLI 필수, </a:t>
            </a:r>
            <a:r>
              <a:rPr lang="ko-KR" altLang="en-US" sz="850" i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단 건 </a:t>
            </a:r>
            <a:r>
              <a:rPr lang="en-US" sz="850" i="1" dirty="0" err="1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실습에서는</a:t>
            </a:r>
            <a:r>
              <a:rPr lang="en-US" sz="850" i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GUI도 OK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218384" y="1546860"/>
            <a:ext cx="449699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실습 CLI 명령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18384" y="1854041"/>
            <a:ext cx="4496991" cy="1454367"/>
          </a:xfrm>
          <a:prstGeom prst="rect">
            <a:avLst/>
          </a:prstGeom>
          <a:solidFill>
            <a:srgbClr val="1A2B3C"/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218384" y="1854041"/>
            <a:ext cx="4496991" cy="1573572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c:\jMeter\apache-jmeter-5.6.3\bin\jmeter.bat
  </a:t>
            </a:r>
            <a:r>
              <a:rPr lang="en-US" sz="850" dirty="0">
                <a:solidFill>
                  <a:srgbClr val="FF9F1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-n</a:t>
            </a:r>
            <a:endParaRPr lang="en-US" sz="8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9F1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-t</a:t>
            </a:r>
            <a:r>
              <a:rPr lang="en-US" sz="8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850" dirty="0">
                <a:solidFill>
                  <a:srgbClr val="00B4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c:\java\perf-demo\jmeter\perf-demo-multi-instance.jmx</a:t>
            </a:r>
            <a:endParaRPr lang="en-US" sz="8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9F1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-l</a:t>
            </a:r>
            <a:r>
              <a:rPr lang="en-US" sz="8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850" dirty="0">
                <a:solidFill>
                  <a:srgbClr val="00B4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c:\java\perf-demo\jmeter\results\pdmi_test_0519_1044.jtl</a:t>
            </a:r>
            <a:endParaRPr lang="en-US" sz="8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9F1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-e</a:t>
            </a:r>
            <a:endParaRPr lang="en-US" sz="850" dirty="0"/>
          </a:p>
          <a:p>
            <a:pPr>
              <a:lnSpc>
                <a:spcPct val="128000"/>
              </a:lnSpc>
            </a:pPr>
            <a:r>
              <a:rPr lang="en-US" sz="850" dirty="0">
                <a:solidFill>
                  <a:srgbClr val="FF9F1C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-o</a:t>
            </a:r>
            <a:r>
              <a:rPr lang="en-US" sz="850" dirty="0">
                <a:solidFill>
                  <a:srgbClr val="E2E8F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</a:t>
            </a:r>
            <a:r>
              <a:rPr lang="en-US" sz="850" dirty="0">
                <a:solidFill>
                  <a:srgbClr val="00B4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c:\java\perf-demo\jmeter\results\</a:t>
            </a:r>
            <a:r>
              <a:rPr lang="en-US" altLang="ko-KR" sz="850" dirty="0">
                <a:solidFill>
                  <a:srgbClr val="00B4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pdmi_test_0519_1044</a:t>
            </a:r>
            <a:r>
              <a:rPr lang="en-US" sz="850" dirty="0">
                <a:solidFill>
                  <a:srgbClr val="00B4C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-report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28625" y="4073723"/>
            <a:ext cx="8286750" cy="700088"/>
          </a:xfrm>
          <a:prstGeom prst="rect">
            <a:avLst/>
          </a:prstGeom>
          <a:solidFill>
            <a:srgbClr val="1A2B3C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28625" y="4073723"/>
            <a:ext cx="28575" cy="700088"/>
          </a:xfrm>
          <a:prstGeom prst="rect">
            <a:avLst/>
          </a:prstGeom>
          <a:solidFill>
            <a:srgbClr val="FF9F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42938" y="4216598"/>
            <a:ext cx="7858125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JTL 파일 = CSV 형식 → </a:t>
            </a:r>
            <a:r>
              <a:rPr lang="en-US" sz="950" dirty="0" err="1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JMeterGUI</a:t>
            </a:r>
            <a:r>
              <a:rPr lang="en-US" sz="95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ko-KR" altLang="en-US" sz="95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모드에서 </a:t>
            </a:r>
            <a:r>
              <a:rPr lang="ko-KR" altLang="en-US" sz="950" dirty="0" err="1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리스너</a:t>
            </a:r>
            <a:r>
              <a:rPr lang="ko-KR" altLang="en-US" sz="95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추가 후 분석</a:t>
            </a:r>
            <a:r>
              <a:rPr lang="en-US" altLang="ko-KR" sz="95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,</a:t>
            </a:r>
            <a:r>
              <a:rPr lang="en-US" sz="95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scouter-report-jtl2.html로 분석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42938" y="4459486"/>
            <a:ext cx="7858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HTML 리포트 = -e -o 옵션으로 자동 생성</a:t>
            </a:r>
            <a:endParaRPr lang="en-US" sz="950" dirty="0"/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787FC626-2918-4903-8768-5E12F8EF6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573059"/>
              </p:ext>
            </p:extLst>
          </p:nvPr>
        </p:nvGraphicFramePr>
        <p:xfrm>
          <a:off x="431800" y="1861820"/>
          <a:ext cx="349250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700">
                  <a:extLst>
                    <a:ext uri="{9D8B030D-6E8A-4147-A177-3AD203B41FA5}">
                      <a16:colId xmlns:a16="http://schemas.microsoft.com/office/drawing/2014/main" val="3570205428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438273397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96657039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endParaRPr lang="ko-KR" altLang="en-US" sz="900" b="1" dirty="0">
                        <a:solidFill>
                          <a:srgbClr val="0F1E2E"/>
                        </a:solidFill>
                        <a:latin typeface="하나2.0 CM"/>
                        <a:ea typeface="하나2.0 CM"/>
                      </a:endParaRP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B4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0F1E2E"/>
                          </a:solidFill>
                          <a:latin typeface="하나2.0 CM"/>
                          <a:ea typeface="하나2.0 CM"/>
                        </a:rPr>
                        <a:t>GUI 모드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B4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0F1E2E"/>
                          </a:solidFill>
                          <a:latin typeface="하나2.0 CM"/>
                          <a:ea typeface="하나2.0 CM"/>
                        </a:rPr>
                        <a:t>CLI 모드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0B4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0505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</a:rPr>
                        <a:t>용도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시나리오 작성/편집용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실제 부하 테스트용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9825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00B4C6"/>
                          </a:solidFill>
                          <a:latin typeface="하나2.0 CM"/>
                          <a:ea typeface="하나2.0 CM"/>
                        </a:rPr>
                        <a:t>특징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리소스 많이 소모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50" dirty="0">
                          <a:solidFill>
                            <a:srgbClr val="FFFFFF"/>
                          </a:solidFill>
                          <a:latin typeface="하나2.0 CM"/>
                          <a:ea typeface="하나2.0 CM"/>
                        </a:rPr>
                        <a:t>가볍게 실행</a:t>
                      </a:r>
                    </a:p>
                  </a:txBody>
                  <a:tcPr anchor="ctr">
                    <a:lnL w="12700">
                      <a:solidFill>
                        <a:srgbClr val="2A3B4C"/>
                      </a:solidFill>
                    </a:lnL>
                    <a:lnR w="12700">
                      <a:solidFill>
                        <a:srgbClr val="2A3B4C"/>
                      </a:solidFill>
                    </a:lnR>
                    <a:lnT w="12700">
                      <a:solidFill>
                        <a:srgbClr val="2A3B4C"/>
                      </a:solidFill>
                    </a:lnT>
                    <a:lnB w="12700">
                      <a:solidFill>
                        <a:srgbClr val="2A3B4C"/>
                      </a:solidFill>
                    </a:lnB>
                    <a:solidFill>
                      <a:srgbClr val="1A2B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999822"/>
                  </a:ext>
                </a:extLst>
              </a:tr>
            </a:tbl>
          </a:graphicData>
        </a:graphic>
      </p:graphicFrame>
      <p:sp>
        <p:nvSpPr>
          <p:cNvPr id="6" name="Text 20">
            <a:extLst>
              <a:ext uri="{FF2B5EF4-FFF2-40B4-BE49-F238E27FC236}">
                <a16:creationId xmlns:a16="http://schemas.microsoft.com/office/drawing/2014/main" id="{753DFBBC-5E29-54A1-C7D6-BFADF5558CF2}"/>
              </a:ext>
            </a:extLst>
          </p:cNvPr>
          <p:cNvSpPr/>
          <p:nvPr/>
        </p:nvSpPr>
        <p:spPr>
          <a:xfrm>
            <a:off x="438865" y="1546860"/>
            <a:ext cx="265485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</a:rPr>
              <a:t>JMeter </a:t>
            </a:r>
            <a:r>
              <a:rPr lang="ko-KR" altLang="en-US" sz="10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</a:rPr>
              <a:t>실행모드</a:t>
            </a:r>
            <a:endParaRPr lang="en-US" sz="1000" b="1" dirty="0">
              <a:solidFill>
                <a:srgbClr val="00B4C6"/>
              </a:solidFill>
              <a:latin typeface="하나2.0 CM" pitchFamily="34" charset="0"/>
              <a:ea typeface="하나2.0 CM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2BF227-C258-D8F8-C58D-0A59D34B8E7B}"/>
              </a:ext>
            </a:extLst>
          </p:cNvPr>
          <p:cNvSpPr txBox="1"/>
          <p:nvPr/>
        </p:nvSpPr>
        <p:spPr>
          <a:xfrm>
            <a:off x="428625" y="960120"/>
            <a:ext cx="8286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GUI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모드는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JMeter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자체가 병목이 되므로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,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부하 실행은 반드시 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CLI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로 할 것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.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실습용 </a:t>
            </a:r>
            <a:r>
              <a:rPr lang="en-US" altLang="ko-KR" sz="14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jmx</a:t>
            </a:r>
            <a:r>
              <a:rPr lang="en-US" altLang="ko-KR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파일은 프로젝트 </a:t>
            </a:r>
            <a:r>
              <a:rPr lang="en-US" altLang="ko-KR" sz="1400" dirty="0" err="1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jmeter</a:t>
            </a:r>
            <a:r>
              <a:rPr lang="ko-KR" altLang="en-US" sz="1400" dirty="0">
                <a:solidFill>
                  <a:srgbClr val="FFFFFF"/>
                </a:solidFill>
                <a:latin typeface="하나2.0 CM" panose="020B0603000000000000" pitchFamily="50" charset="-127"/>
                <a:ea typeface="하나2.0 CM" panose="020B0603000000000000" pitchFamily="50" charset="-127"/>
              </a:rPr>
              <a:t>폴더에 포함 </a:t>
            </a:r>
          </a:p>
        </p:txBody>
      </p:sp>
    </p:spTree>
    <p:extLst>
      <p:ext uri="{BB962C8B-B14F-4D97-AF65-F5344CB8AC3E}">
        <p14:creationId xmlns:p14="http://schemas.microsoft.com/office/powerpoint/2010/main" val="173674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9144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29768" y="301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07. 정리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9768" y="1321308"/>
            <a:ext cx="4032504" cy="1389888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66928" y="14127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핵심 개념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785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■"/>
            </a:pP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성능테스트 = 부하 + 측정 + 분석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■"/>
            </a:pP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핵심 지표: TPS, 응답시간, 자원사용량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72584" y="1321308"/>
            <a:ext cx="4032504" cy="1389888"/>
          </a:xfrm>
          <a:prstGeom prst="rect">
            <a:avLst/>
          </a:prstGeom>
          <a:solidFill>
            <a:srgbClr val="1A2B3C"/>
          </a:solidFill>
          <a:ln w="9144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09744" y="14127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도구의 역할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9744" y="17785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■"/>
            </a:pP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JMeter = </a:t>
            </a:r>
            <a:r>
              <a:rPr lang="en-US" sz="95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부하</a:t>
            </a: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en-US" sz="95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발생</a:t>
            </a: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ko-KR" alt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및 성능분석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■"/>
            </a:pP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Scouter = 실시간 모니터링 (APM) </a:t>
            </a:r>
            <a:r>
              <a:rPr lang="ko-KR" alt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및 지표자료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2921508"/>
            <a:ext cx="4032504" cy="1389888"/>
          </a:xfrm>
          <a:prstGeom prst="rect">
            <a:avLst/>
          </a:prstGeom>
          <a:solidFill>
            <a:srgbClr val="1A2B3C"/>
          </a:solidFill>
          <a:ln w="9144">
            <a:solidFill>
              <a:srgbClr val="00B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30129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Scouter 데이터 흐름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3787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■"/>
            </a:pP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Agent(앱) → Server(수집) → Paper(시각화)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■"/>
            </a:pP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XLog(개별 트랜잭션) ↔ Profile(상세 추적)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72584" y="2921508"/>
            <a:ext cx="4032504" cy="1389888"/>
          </a:xfrm>
          <a:prstGeom prst="rect">
            <a:avLst/>
          </a:prstGeom>
          <a:solidFill>
            <a:srgbClr val="1A2B3C"/>
          </a:solidFill>
          <a:ln w="9144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9744" y="30129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F1C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실습이 끝난 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33787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■"/>
            </a:pP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JMeter로 부하 → </a:t>
            </a:r>
            <a:r>
              <a:rPr lang="en-US" sz="95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JmeterGUI</a:t>
            </a: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ko-KR" altLang="en-US" sz="950" dirty="0" err="1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리스너</a:t>
            </a:r>
            <a:r>
              <a:rPr lang="ko-KR" alt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또는 커스텀 </a:t>
            </a:r>
            <a:r>
              <a:rPr lang="en-US" altLang="ko-KR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jtl2.html </a:t>
            </a:r>
            <a:r>
              <a:rPr lang="ko-KR" alt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으로 분석</a:t>
            </a:r>
            <a:r>
              <a:rPr lang="en-US" altLang="ko-KR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r>
              <a:rPr lang="ko-KR" alt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■"/>
            </a:pPr>
            <a:r>
              <a:rPr 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XLog 점 → Profile </a:t>
            </a:r>
            <a:r>
              <a:rPr lang="ko-KR" altLang="en-US" sz="950" dirty="0">
                <a:solidFill>
                  <a:srgbClr val="E2E8F0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분석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02607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0F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59536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9144"/>
          </a:xfrm>
          <a:prstGeom prst="rect">
            <a:avLst/>
          </a:prstGeom>
          <a:solidFill>
            <a:srgbClr val="00B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29768" y="301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목차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3776" y="1024128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01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성능테스트 목적과 유형</a:t>
            </a:r>
          </a:p>
        </p:txBody>
      </p:sp>
      <p:sp>
        <p:nvSpPr>
          <p:cNvPr id="8" name="Shape 6"/>
          <p:cNvSpPr/>
          <p:nvPr/>
        </p:nvSpPr>
        <p:spPr>
          <a:xfrm>
            <a:off x="493776" y="1719072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02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핵심 지표 + TPS 계산</a:t>
            </a:r>
          </a:p>
        </p:txBody>
      </p:sp>
      <p:sp>
        <p:nvSpPr>
          <p:cNvPr id="11" name="Shape 9"/>
          <p:cNvSpPr/>
          <p:nvPr/>
        </p:nvSpPr>
        <p:spPr>
          <a:xfrm>
            <a:off x="493776" y="2414016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03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성능테스트 흐름</a:t>
            </a:r>
          </a:p>
        </p:txBody>
      </p:sp>
      <p:sp>
        <p:nvSpPr>
          <p:cNvPr id="14" name="Shape 12"/>
          <p:cNvSpPr/>
          <p:nvPr/>
        </p:nvSpPr>
        <p:spPr>
          <a:xfrm>
            <a:off x="493776" y="3108960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04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실습 환경 구성</a:t>
            </a:r>
          </a:p>
        </p:txBody>
      </p:sp>
      <p:sp>
        <p:nvSpPr>
          <p:cNvPr id="17" name="Shape 15"/>
          <p:cNvSpPr/>
          <p:nvPr/>
        </p:nvSpPr>
        <p:spPr>
          <a:xfrm>
            <a:off x="493776" y="3803904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05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JMeter 부하 발생</a:t>
            </a:r>
          </a:p>
        </p:txBody>
      </p:sp>
      <p:sp>
        <p:nvSpPr>
          <p:cNvPr id="20" name="Shape 18"/>
          <p:cNvSpPr/>
          <p:nvPr/>
        </p:nvSpPr>
        <p:spPr>
          <a:xfrm>
            <a:off x="493776" y="4498848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06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Scouter 모니터링 + 구성</a:t>
            </a:r>
          </a:p>
        </p:txBody>
      </p:sp>
      <p:sp>
        <p:nvSpPr>
          <p:cNvPr id="23" name="Shape 21"/>
          <p:cNvSpPr/>
          <p:nvPr/>
        </p:nvSpPr>
        <p:spPr>
          <a:xfrm>
            <a:off x="4754880" y="1024128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07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Scouter 설정 (conf)</a:t>
            </a:r>
          </a:p>
        </p:txBody>
      </p:sp>
      <p:sp>
        <p:nvSpPr>
          <p:cNvPr id="26" name="Shape 24"/>
          <p:cNvSpPr/>
          <p:nvPr/>
        </p:nvSpPr>
        <p:spPr>
          <a:xfrm>
            <a:off x="4754880" y="1719072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08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실습: perf-demo 기동</a:t>
            </a:r>
          </a:p>
        </p:txBody>
      </p:sp>
      <p:sp>
        <p:nvSpPr>
          <p:cNvPr id="29" name="Shape 27"/>
          <p:cNvSpPr/>
          <p:nvPr/>
        </p:nvSpPr>
        <p:spPr>
          <a:xfrm>
            <a:off x="4754880" y="2414016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09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Swagger로 XLog 동작 확인</a:t>
            </a:r>
          </a:p>
        </p:txBody>
      </p:sp>
      <p:sp>
        <p:nvSpPr>
          <p:cNvPr id="32" name="Shape 30"/>
          <p:cNvSpPr/>
          <p:nvPr/>
        </p:nvSpPr>
        <p:spPr>
          <a:xfrm>
            <a:off x="4754880" y="3108960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10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XLog와 프로파일</a:t>
            </a:r>
          </a:p>
        </p:txBody>
      </p:sp>
      <p:sp>
        <p:nvSpPr>
          <p:cNvPr id="35" name="Shape 33"/>
          <p:cNvSpPr/>
          <p:nvPr/>
        </p:nvSpPr>
        <p:spPr>
          <a:xfrm>
            <a:off x="4754880" y="3803904"/>
            <a:ext cx="4005072" cy="566928"/>
          </a:xfrm>
          <a:prstGeom prst="rect">
            <a:avLst/>
          </a:prstGeom>
          <a:solidFill>
            <a:srgbClr val="1A2B3C"/>
          </a:solidFill>
          <a:ln/>
        </p:spPr>
        <p:txBody>
          <a:bodyPr wrap="square" lIns="72000" tIns="36000" rIns="36000" bIns="3600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C6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11</a:t>
            </a:r>
            <a:r>
              <a:rPr lang="en-US" sz="1000" dirty="0">
                <a:solidFill>
                  <a:srgbClr val="FFFFFF"/>
                </a:solidFill>
                <a:latin typeface="하나2.0 CM" pitchFamily="34" charset="0"/>
                <a:ea typeface="하나2.0 CM" pitchFamily="34" charset="-122"/>
                <a:cs typeface="하나2.0 CM" pitchFamily="34" charset="-120"/>
              </a:rPr>
              <a:t>  정리</a:t>
            </a:r>
          </a:p>
        </p:txBody>
      </p:sp>
    </p:spTree>
    <p:extLst>
      <p:ext uri="{BB962C8B-B14F-4D97-AF65-F5344CB8AC3E}">
        <p14:creationId xmlns:p14="http://schemas.microsoft.com/office/powerpoint/2010/main" val="3604433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18709381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하나2.0 CM" panose="020F0302020204030204"/>
        <a:ea typeface="하나2.0 CM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하나2.0 CM" panose="020F0502020204030204"/>
        <a:ea typeface="하나2.0 CM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24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9DD02B4-BFAE-4BE0-8F85-7CA5FF0C5E5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aef43b2-70ab-4065-8158-0d3fccb2490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1261</Words>
  <Application>Microsoft Office PowerPoint</Application>
  <PresentationFormat>화면 슬라이드 쇼(16:9)</PresentationFormat>
  <Paragraphs>217</Paragraphs>
  <Slides>11</Slides>
  <Notes>11</Notes>
  <HiddenSlides>1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하나2.0 CM</vt:lpstr>
      <vt:lpstr>Arial</vt:lpstr>
      <vt:lpstr>Consolas</vt:lpstr>
      <vt:lpstr>Fira Code</vt:lpstr>
      <vt:lpstr>Office Theme [1779187093811]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yj jeon</cp:lastModifiedBy>
  <cp:revision>43</cp:revision>
  <dcterms:created xsi:type="dcterms:W3CDTF">2026-05-19T06:43:53Z</dcterms:created>
  <dcterms:modified xsi:type="dcterms:W3CDTF">2026-05-20T06:42:57Z</dcterms:modified>
</cp:coreProperties>
</file>